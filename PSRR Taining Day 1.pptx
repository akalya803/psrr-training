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63" r:id="rId2"/>
    <p:sldId id="393" r:id="rId3"/>
    <p:sldId id="394" r:id="rId4"/>
    <p:sldId id="395" r:id="rId5"/>
    <p:sldId id="396" r:id="rId6"/>
    <p:sldId id="383" r:id="rId7"/>
    <p:sldId id="384" r:id="rId8"/>
    <p:sldId id="398" r:id="rId9"/>
    <p:sldId id="399" r:id="rId10"/>
    <p:sldId id="385" r:id="rId11"/>
    <p:sldId id="386" r:id="rId12"/>
    <p:sldId id="387" r:id="rId13"/>
    <p:sldId id="388" r:id="rId14"/>
    <p:sldId id="389" r:id="rId15"/>
    <p:sldId id="390" r:id="rId16"/>
    <p:sldId id="400" r:id="rId17"/>
    <p:sldId id="401" r:id="rId18"/>
    <p:sldId id="425" r:id="rId19"/>
    <p:sldId id="426" r:id="rId20"/>
    <p:sldId id="402" r:id="rId21"/>
    <p:sldId id="427" r:id="rId22"/>
    <p:sldId id="428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417" r:id="rId38"/>
    <p:sldId id="418" r:id="rId39"/>
    <p:sldId id="419" r:id="rId40"/>
    <p:sldId id="420" r:id="rId41"/>
    <p:sldId id="421" r:id="rId42"/>
    <p:sldId id="422" r:id="rId43"/>
    <p:sldId id="423" r:id="rId44"/>
    <p:sldId id="42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 autoAdjust="0"/>
    <p:restoredTop sz="94694"/>
  </p:normalViewPr>
  <p:slideViewPr>
    <p:cSldViewPr snapToGrid="0">
      <p:cViewPr varScale="1">
        <p:scale>
          <a:sx n="82" d="100"/>
          <a:sy n="82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720B5-BED9-2E47-8F49-BBDBB29BAC9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DC6F9-8552-CB4D-A5C6-2103EDB57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3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DC6F9-8552-CB4D-A5C6-2103EDB574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34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DC6F9-8552-CB4D-A5C6-2103EDB574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1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BA92-0465-0B9F-7D1C-CF387D2E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95170-7884-86DC-402B-8E1A2C7CD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077D1-687E-8D7A-D7F5-2636FD4329AE}"/>
              </a:ext>
            </a:extLst>
          </p:cNvPr>
          <p:cNvSpPr/>
          <p:nvPr userDrawn="1"/>
        </p:nvSpPr>
        <p:spPr>
          <a:xfrm>
            <a:off x="126672" y="117958"/>
            <a:ext cx="11938656" cy="66220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92567-2377-345B-33DE-B12C6B334D3F}"/>
              </a:ext>
            </a:extLst>
          </p:cNvPr>
          <p:cNvSpPr/>
          <p:nvPr userDrawn="1"/>
        </p:nvSpPr>
        <p:spPr>
          <a:xfrm>
            <a:off x="457199" y="381000"/>
            <a:ext cx="8825023" cy="685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a-IN"/>
          </a:p>
        </p:txBody>
      </p:sp>
      <p:pic>
        <p:nvPicPr>
          <p:cNvPr id="11" name="Picture 10" descr="A blue and yellow logo&#10;&#10;AI-generated content may be incorrect.">
            <a:extLst>
              <a:ext uri="{FF2B5EF4-FFF2-40B4-BE49-F238E27FC236}">
                <a16:creationId xmlns:a16="http://schemas.microsoft.com/office/drawing/2014/main" id="{F36DB4A7-D8E9-4415-4F5B-1D83AA4056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7059" y="164058"/>
            <a:ext cx="1743213" cy="43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1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CE08-80EE-FA0C-11A7-DF9108AB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E3B19-9ACB-D1D2-7EDE-34927BBFA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1089C-217E-CB52-F123-D450799F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E331-9FA9-2071-274A-577B1BA7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CE37-34EC-2755-F6D4-52CCF425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3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AD54-7AF9-3892-1631-552728AE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6B3D-ADE7-020A-B693-8CBEFC49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F55C8-D377-9572-5350-FFE2785C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F4C5C-9201-62EB-F07D-F920C630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70E3C-2044-ADFF-B165-FC5C4427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1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F850-8709-1215-2B15-E200E3E9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0D71-BCC1-32EC-4DC8-C6D257928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E8DBE-14DC-BCCB-8052-CE1395377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CBA76-A37E-F587-1C49-848B7E8E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8B72C-E23F-2195-26E1-63C8C731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5A33A-C769-D19B-68B3-B75F98B1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9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E1D9-DA82-5C1E-5986-BB368E6E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7D5F3-A2B1-9E47-6D24-AC38E03EC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97A4D-E120-17E1-8017-0C641C93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80B04-8A30-A37F-FB27-2BB16B7C0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F68FD-9786-C7E9-996F-ACF7FBD26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92944-BEC1-7105-487D-CD1928E3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DCB2C-E084-5D76-A5BC-EA3C9DAE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B5C4B-6739-527D-D587-D560725F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9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3872-A1C3-FFCB-56CC-994EEA04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E38B8-DB2A-C3B4-482D-8620C490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48B89-9165-86FF-8BBC-F1A5C3E8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CAD9C-81CC-203E-871A-D785E774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9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BF3C8-4B22-2DC0-9C86-F2825464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BD0D3-2594-779E-F9A6-7B633EA2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2D29D-F0E6-4FB4-C9F6-42EB25AD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1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9FF3-3CD7-E224-1D33-76A15599E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D50E-5D0F-1F0C-540B-3586A8D13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9B161-CC05-03D5-4817-BF148614F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75C5A-01EB-4A6B-074B-83B7466A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CE5D2-A04D-69EF-0456-9E8F93FB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99EE-FBE0-E6B7-EA59-4C9AC9E1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3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247C-CE0B-CCC9-B1A1-EBF237F8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C8E09-3020-2F49-8A8E-40B5DA419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518D-546F-5AF8-EBE4-EE158DF5C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64CB0-6904-DCB0-AA1B-24C990ED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1FE73-B379-2DF8-5D8C-FC33CFDF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ACFCA-973E-FF52-2546-566304A3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4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D4E9-910C-ABAB-E826-99A19087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4CD01-F5EA-384B-96B3-80EE83287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04801-F13F-AA1D-E827-F048FDA4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5495D-A54D-9867-5FD9-CDD617D1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54EFB-86E0-26EA-6AD4-4AC0F5DF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83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E58A3-F75A-9BDF-AADF-1C08636DA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EAF38-4A44-F8AF-B971-4D805B4F9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77A7F-9B99-9DDC-F8F7-4945ADF3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981A-491C-4BA4-E21B-0B90BF5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AD38C-0CBC-2275-B5E2-32C0E76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17579-555C-8BDB-5ACA-F63C412D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35873-ADF7-0FB9-CF43-5E6CE0B91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1C90-8AE5-673B-472A-D15D62590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96D62-F295-B240-BF6A-885948270D6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1CDC-23FC-095B-F45A-4C5833969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D9DA1-FA9D-BC23-C212-611B2EA60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0CB64-121E-0A4A-9B68-A94E094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2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4515984-CAF6-7C26-2955-B4E2E62DD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8156" y="2311629"/>
            <a:ext cx="6432724" cy="794666"/>
          </a:xfrm>
        </p:spPr>
        <p:txBody>
          <a:bodyPr anchor="ctr" anchorCtr="0">
            <a:normAutofit fontScale="90000"/>
          </a:bodyPr>
          <a:lstStyle/>
          <a:p>
            <a:r>
              <a:rPr lang="en-IN" b="1" i="1" dirty="0" smtClean="0">
                <a:solidFill>
                  <a:srgbClr val="FF0000"/>
                </a:solidFill>
                <a:latin typeface="+mn-lt"/>
              </a:rPr>
              <a:t>TRAINING PROGRAM </a:t>
            </a:r>
            <a:endParaRPr lang="ta-IN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Subtitle 7">
            <a:extLst>
              <a:ext uri="{FF2B5EF4-FFF2-40B4-BE49-F238E27FC236}">
                <a16:creationId xmlns:a16="http://schemas.microsoft.com/office/drawing/2014/main" id="{E94D4067-16C6-2247-2012-457E337F8579}"/>
              </a:ext>
            </a:extLst>
          </p:cNvPr>
          <p:cNvSpPr txBox="1">
            <a:spLocks/>
          </p:cNvSpPr>
          <p:nvPr/>
        </p:nvSpPr>
        <p:spPr>
          <a:xfrm>
            <a:off x="710664" y="5050557"/>
            <a:ext cx="6882064" cy="1289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LEARN FROM THE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STRONG IN FUNDAMENTALS</a:t>
            </a:r>
            <a:endParaRPr kumimoji="0" lang="ta-IN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532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7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3865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2738535" y="2495729"/>
            <a:ext cx="7101011" cy="850543"/>
          </a:xfrm>
        </p:spPr>
        <p:txBody>
          <a:bodyPr/>
          <a:lstStyle/>
          <a:p>
            <a:r>
              <a:rPr lang="en-IN" sz="5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  <a:r>
              <a:rPr lang="en-IN" sz="5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IN" sz="5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</a:t>
            </a:r>
            <a:r>
              <a:rPr lang="en-IN" sz="5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IN" sz="5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Aptitude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2262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3360" y="634683"/>
            <a:ext cx="9144000" cy="23876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aptitude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3460" y="3992878"/>
            <a:ext cx="9286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Aptitude means your ability to think clearly and solve problems.</a:t>
            </a:r>
            <a:endParaRPr lang="en-IN" sz="28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78"/>
          <a:stretch/>
        </p:blipFill>
        <p:spPr>
          <a:xfrm>
            <a:off x="10299700" y="3438990"/>
            <a:ext cx="1536979" cy="16309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532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92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62034"/>
            <a:ext cx="9144000" cy="2387600"/>
          </a:xfrm>
        </p:spPr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8320" y="1518392"/>
            <a:ext cx="3515360" cy="696488"/>
          </a:xfrm>
        </p:spPr>
        <p:txBody>
          <a:bodyPr>
            <a:noAutofit/>
          </a:bodyPr>
          <a:lstStyle/>
          <a:p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Aptitude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532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085840" y="2377440"/>
            <a:ext cx="10160" cy="670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082800" y="3048000"/>
            <a:ext cx="7884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082800" y="3048000"/>
            <a:ext cx="0" cy="101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966960" y="3048000"/>
            <a:ext cx="0" cy="92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085840" y="3048000"/>
            <a:ext cx="0" cy="92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5384" y="4409440"/>
            <a:ext cx="12141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Quantitative aptitude             logical reasoning                  verbal ability                                  </a:t>
            </a:r>
            <a:endParaRPr lang="en-IN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71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46508" y="3804060"/>
            <a:ext cx="6582634" cy="985868"/>
          </a:xfrm>
        </p:spPr>
        <p:txBody>
          <a:bodyPr>
            <a:noAutofit/>
          </a:bodyPr>
          <a:lstStyle/>
          <a:p>
            <a:r>
              <a:rPr lang="en-IN" i="1" dirty="0" smtClean="0">
                <a:latin typeface="Zilla Slab" pitchFamily="2" charset="0"/>
                <a:ea typeface="Zilla Slab" pitchFamily="2" charset="0"/>
                <a:cs typeface="Times New Roman" panose="02020603050405020304" pitchFamily="18" charset="0"/>
              </a:rPr>
              <a:t>What are Numbers?</a:t>
            </a:r>
            <a:endParaRPr lang="en-IN" i="1" dirty="0">
              <a:latin typeface="Zilla Slab" pitchFamily="2" charset="0"/>
              <a:ea typeface="Zilla Slab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5" y="253243"/>
            <a:ext cx="9072862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022462" y="2012717"/>
            <a:ext cx="8430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i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Aptitude</a:t>
            </a:r>
            <a:endParaRPr lang="en-IN" sz="7200" i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03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F1364F1B-1792-44B4-B630-54F7E7CA62E4}"/>
              </a:ext>
            </a:extLst>
          </p:cNvPr>
          <p:cNvSpPr txBox="1"/>
          <p:nvPr/>
        </p:nvSpPr>
        <p:spPr>
          <a:xfrm>
            <a:off x="190503" y="5190282"/>
            <a:ext cx="5918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Natural        Whole </a:t>
            </a:r>
          </a:p>
          <a:p>
            <a:r>
              <a:rPr lang="en-US" dirty="0"/>
              <a:t>      Number        Numbers</a:t>
            </a:r>
          </a:p>
          <a:p>
            <a:r>
              <a:rPr lang="en-IN" dirty="0"/>
              <a:t>    (1,2,3…N)    (0,1,2,3…N)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3865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78FB9-4A3E-F280-A025-E469DB699350}"/>
              </a:ext>
            </a:extLst>
          </p:cNvPr>
          <p:cNvSpPr txBox="1"/>
          <p:nvPr/>
        </p:nvSpPr>
        <p:spPr>
          <a:xfrm>
            <a:off x="2116776" y="299466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CF0E2-68BB-6D11-A3F0-7452A186D31E}"/>
              </a:ext>
            </a:extLst>
          </p:cNvPr>
          <p:cNvSpPr txBox="1"/>
          <p:nvPr/>
        </p:nvSpPr>
        <p:spPr>
          <a:xfrm>
            <a:off x="4491406" y="197140"/>
            <a:ext cx="1565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 </a:t>
            </a:r>
            <a:r>
              <a:rPr lang="en-US" sz="2000" b="1" dirty="0" smtClean="0"/>
              <a:t>  NUMBERS  </a:t>
            </a:r>
            <a:endParaRPr lang="en-IN" sz="20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76C07A-5F07-3447-5441-6C767ED6763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491407" y="597250"/>
            <a:ext cx="782778" cy="41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9C78A9-282A-9451-50CB-A2F92702828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274185" y="597250"/>
            <a:ext cx="879856" cy="41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105BA58-4889-9F16-2E8D-65B8D9BAFF8B}"/>
              </a:ext>
            </a:extLst>
          </p:cNvPr>
          <p:cNvSpPr txBox="1"/>
          <p:nvPr/>
        </p:nvSpPr>
        <p:spPr>
          <a:xfrm flipH="1">
            <a:off x="5322723" y="1137852"/>
            <a:ext cx="3440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dirty="0" smtClean="0"/>
              <a:t>Imaginary </a:t>
            </a:r>
            <a:r>
              <a:rPr lang="en-US" dirty="0"/>
              <a:t>Numbers  Ex: (4+3i, </a:t>
            </a:r>
            <a:r>
              <a:rPr lang="en-IN" dirty="0"/>
              <a:t>√i</a:t>
            </a:r>
            <a:r>
              <a:rPr lang="en-US" dirty="0"/>
              <a:t>)     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C149CA-09A3-EFD7-91E8-5CD9967B526C}"/>
              </a:ext>
            </a:extLst>
          </p:cNvPr>
          <p:cNvCxnSpPr>
            <a:cxnSpLocks/>
          </p:cNvCxnSpPr>
          <p:nvPr/>
        </p:nvCxnSpPr>
        <p:spPr>
          <a:xfrm flipH="1">
            <a:off x="3283453" y="1639753"/>
            <a:ext cx="974096" cy="56119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1A86018-35E5-9D17-EB53-FA49B3C33745}"/>
              </a:ext>
            </a:extLst>
          </p:cNvPr>
          <p:cNvSpPr/>
          <p:nvPr/>
        </p:nvSpPr>
        <p:spPr>
          <a:xfrm>
            <a:off x="3314785" y="1014599"/>
            <a:ext cx="1796142" cy="78071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Real Numbers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A49CE9-D6C0-1C53-CC5C-98CC245E5698}"/>
              </a:ext>
            </a:extLst>
          </p:cNvPr>
          <p:cNvCxnSpPr/>
          <p:nvPr/>
        </p:nvCxnSpPr>
        <p:spPr>
          <a:xfrm>
            <a:off x="3978969" y="1789506"/>
            <a:ext cx="642257" cy="4172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A37815-2836-A109-C7AA-C1E36C4E37B4}"/>
              </a:ext>
            </a:extLst>
          </p:cNvPr>
          <p:cNvSpPr/>
          <p:nvPr/>
        </p:nvSpPr>
        <p:spPr>
          <a:xfrm>
            <a:off x="2215245" y="2201617"/>
            <a:ext cx="1619121" cy="9361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Rational Numbers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42A405-8E7A-D13E-74C1-D400217B5C55}"/>
              </a:ext>
            </a:extLst>
          </p:cNvPr>
          <p:cNvSpPr/>
          <p:nvPr/>
        </p:nvSpPr>
        <p:spPr>
          <a:xfrm>
            <a:off x="4040597" y="2226008"/>
            <a:ext cx="1619121" cy="91416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Irrational Numbers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C57AE-338F-122B-D65F-EB3DDD4A34A4}"/>
              </a:ext>
            </a:extLst>
          </p:cNvPr>
          <p:cNvSpPr txBox="1"/>
          <p:nvPr/>
        </p:nvSpPr>
        <p:spPr>
          <a:xfrm flipH="1">
            <a:off x="5669738" y="2162844"/>
            <a:ext cx="252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Ex: </a:t>
            </a:r>
            <a:r>
              <a:rPr lang="en-IN" dirty="0"/>
              <a:t>√2 = 1.41421356…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00FE94-3E77-319B-A96C-6ABDBF628238}"/>
              </a:ext>
            </a:extLst>
          </p:cNvPr>
          <p:cNvSpPr txBox="1"/>
          <p:nvPr/>
        </p:nvSpPr>
        <p:spPr>
          <a:xfrm>
            <a:off x="2419391" y="2863728"/>
            <a:ext cx="371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BF22A-D0B5-8188-49FC-4F74F212AEA6}"/>
              </a:ext>
            </a:extLst>
          </p:cNvPr>
          <p:cNvSpPr txBox="1"/>
          <p:nvPr/>
        </p:nvSpPr>
        <p:spPr>
          <a:xfrm>
            <a:off x="2650671" y="2694690"/>
            <a:ext cx="371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2B3C3A-1696-01ED-C2EF-BEC6A729D9CB}"/>
              </a:ext>
            </a:extLst>
          </p:cNvPr>
          <p:cNvCxnSpPr>
            <a:cxnSpLocks/>
          </p:cNvCxnSpPr>
          <p:nvPr/>
        </p:nvCxnSpPr>
        <p:spPr>
          <a:xfrm>
            <a:off x="3024805" y="3135214"/>
            <a:ext cx="455135" cy="25472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9B72E8-3C2F-5AFA-D373-878ED0887400}"/>
              </a:ext>
            </a:extLst>
          </p:cNvPr>
          <p:cNvCxnSpPr>
            <a:cxnSpLocks/>
          </p:cNvCxnSpPr>
          <p:nvPr/>
        </p:nvCxnSpPr>
        <p:spPr>
          <a:xfrm flipH="1">
            <a:off x="2569728" y="3138948"/>
            <a:ext cx="455077" cy="23660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098B1AE7-4FD5-27F0-F5DA-84232DE91D78}"/>
              </a:ext>
            </a:extLst>
          </p:cNvPr>
          <p:cNvSpPr/>
          <p:nvPr/>
        </p:nvSpPr>
        <p:spPr>
          <a:xfrm>
            <a:off x="1539446" y="3345172"/>
            <a:ext cx="1351597" cy="62669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Integers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CAF2F2D-6E35-0371-1C1C-3FD8108C6D0D}"/>
              </a:ext>
            </a:extLst>
          </p:cNvPr>
          <p:cNvSpPr/>
          <p:nvPr/>
        </p:nvSpPr>
        <p:spPr>
          <a:xfrm>
            <a:off x="3068155" y="3383011"/>
            <a:ext cx="1404692" cy="6106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Fraction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102EB8-9C90-8113-C4CD-F566D8185119}"/>
              </a:ext>
            </a:extLst>
          </p:cNvPr>
          <p:cNvSpPr txBox="1"/>
          <p:nvPr/>
        </p:nvSpPr>
        <p:spPr>
          <a:xfrm>
            <a:off x="4472847" y="3507294"/>
            <a:ext cx="136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Ex: 1/3, 2/4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4693F0-DDEF-834E-32E8-2F08241A916E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1272720" y="3971866"/>
            <a:ext cx="942525" cy="550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B83A30-B2BF-5F0C-6C3A-5BB5995625BA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2215245" y="3971866"/>
            <a:ext cx="1037127" cy="530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4D62A4-BF1F-790B-DA5C-501C682F066F}"/>
              </a:ext>
            </a:extLst>
          </p:cNvPr>
          <p:cNvSpPr txBox="1"/>
          <p:nvPr/>
        </p:nvSpPr>
        <p:spPr>
          <a:xfrm>
            <a:off x="991402" y="4521922"/>
            <a:ext cx="2656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+ INT       - INT         </a:t>
            </a:r>
            <a:r>
              <a:rPr lang="en-US" dirty="0"/>
              <a:t>0</a:t>
            </a:r>
            <a:endParaRPr lang="en-IN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949F99-A5AD-D0C4-54AC-F651CB6FBEAF}"/>
              </a:ext>
            </a:extLst>
          </p:cNvPr>
          <p:cNvCxnSpPr>
            <a:cxnSpLocks/>
          </p:cNvCxnSpPr>
          <p:nvPr/>
        </p:nvCxnSpPr>
        <p:spPr>
          <a:xfrm flipH="1">
            <a:off x="991402" y="4891254"/>
            <a:ext cx="423512" cy="299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CABD57-F2CF-DE15-D8CE-126DBFC526CD}"/>
              </a:ext>
            </a:extLst>
          </p:cNvPr>
          <p:cNvCxnSpPr>
            <a:cxnSpLocks/>
          </p:cNvCxnSpPr>
          <p:nvPr/>
        </p:nvCxnSpPr>
        <p:spPr>
          <a:xfrm>
            <a:off x="1414914" y="4876471"/>
            <a:ext cx="502786" cy="3138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47ABAD2-EB16-2F10-77F9-AB86BD274C18}"/>
              </a:ext>
            </a:extLst>
          </p:cNvPr>
          <p:cNvCxnSpPr>
            <a:cxnSpLocks/>
          </p:cNvCxnSpPr>
          <p:nvPr/>
        </p:nvCxnSpPr>
        <p:spPr>
          <a:xfrm>
            <a:off x="6096000" y="4216842"/>
            <a:ext cx="12700" cy="2002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3BBE707-363F-FC7E-4546-104135605509}"/>
              </a:ext>
            </a:extLst>
          </p:cNvPr>
          <p:cNvCxnSpPr/>
          <p:nvPr/>
        </p:nvCxnSpPr>
        <p:spPr>
          <a:xfrm>
            <a:off x="6096000" y="4776954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1A75BA-C40B-2AFA-DD13-3D34A5B8FC61}"/>
              </a:ext>
            </a:extLst>
          </p:cNvPr>
          <p:cNvCxnSpPr/>
          <p:nvPr/>
        </p:nvCxnSpPr>
        <p:spPr>
          <a:xfrm>
            <a:off x="6096000" y="4233164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F62F48D-8243-128C-8FE7-E2E7DCB0B415}"/>
              </a:ext>
            </a:extLst>
          </p:cNvPr>
          <p:cNvCxnSpPr/>
          <p:nvPr/>
        </p:nvCxnSpPr>
        <p:spPr>
          <a:xfrm>
            <a:off x="6108700" y="5261946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012C93-A9CE-0DDC-3894-978F8D057CCC}"/>
              </a:ext>
            </a:extLst>
          </p:cNvPr>
          <p:cNvCxnSpPr/>
          <p:nvPr/>
        </p:nvCxnSpPr>
        <p:spPr>
          <a:xfrm>
            <a:off x="6096000" y="5845688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C4474CB-C53C-4928-A428-C37D0F6EEFAB}"/>
              </a:ext>
            </a:extLst>
          </p:cNvPr>
          <p:cNvSpPr txBox="1"/>
          <p:nvPr/>
        </p:nvSpPr>
        <p:spPr>
          <a:xfrm>
            <a:off x="6692899" y="4048926"/>
            <a:ext cx="22467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Odd (1,3,5…)     </a:t>
            </a:r>
          </a:p>
          <a:p>
            <a:endParaRPr lang="en-US" dirty="0"/>
          </a:p>
          <a:p>
            <a:r>
              <a:rPr lang="en-IN" dirty="0"/>
              <a:t>Even (2,4,6,8….)</a:t>
            </a:r>
          </a:p>
          <a:p>
            <a:endParaRPr lang="en-IN" dirty="0"/>
          </a:p>
          <a:p>
            <a:r>
              <a:rPr lang="en-IN" dirty="0"/>
              <a:t>Prime (2,3,5,7,11….)</a:t>
            </a:r>
          </a:p>
          <a:p>
            <a:endParaRPr lang="en-IN" dirty="0"/>
          </a:p>
          <a:p>
            <a:r>
              <a:rPr lang="en-IN" dirty="0"/>
              <a:t>Composite (4,6,8,9,12,15…..)</a:t>
            </a:r>
          </a:p>
          <a:p>
            <a:endParaRPr lang="en-IN" dirty="0"/>
          </a:p>
          <a:p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630317-7D82-2456-6169-5036D6A719C6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2215245" y="3971866"/>
            <a:ext cx="12699" cy="457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0A32D2C-18B6-0853-E47E-F06D1920335C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126178" y="6219693"/>
            <a:ext cx="49825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Arrow: Down 148">
            <a:extLst>
              <a:ext uri="{FF2B5EF4-FFF2-40B4-BE49-F238E27FC236}">
                <a16:creationId xmlns:a16="http://schemas.microsoft.com/office/drawing/2014/main" id="{A80D609E-6180-263A-0965-FEC407089A02}"/>
              </a:ext>
            </a:extLst>
          </p:cNvPr>
          <p:cNvSpPr/>
          <p:nvPr/>
        </p:nvSpPr>
        <p:spPr>
          <a:xfrm>
            <a:off x="1030436" y="6032500"/>
            <a:ext cx="191484" cy="18719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9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/>
      <p:bldP spid="8" grpId="0"/>
      <p:bldP spid="10" grpId="0" animBg="1"/>
      <p:bldP spid="12" grpId="0" animBg="1"/>
      <p:bldP spid="13" grpId="0" animBg="1"/>
      <p:bldP spid="14" grpId="0"/>
      <p:bldP spid="19" grpId="0" animBg="1"/>
      <p:bldP spid="20" grpId="0" animBg="1"/>
      <p:bldP spid="21" grpId="0"/>
      <p:bldP spid="24" grpId="0"/>
      <p:bldP spid="33" grpId="0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532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6" name="Rectangle 5"/>
          <p:cNvSpPr/>
          <p:nvPr/>
        </p:nvSpPr>
        <p:spPr>
          <a:xfrm>
            <a:off x="4211455" y="1040736"/>
            <a:ext cx="41207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RULE</a:t>
            </a:r>
            <a:endParaRPr lang="en-I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61755" y="1625511"/>
            <a:ext cx="80201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2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number ends in 0, 2, 4, 6, or 8.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3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sum of its digits is divisible by 3.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4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last two digits are divisible by 4.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5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number ends in 0 or 5.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6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number is divisible by both 2 and 3.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8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last three digits are divisible by 8.</a:t>
            </a:r>
          </a:p>
        </p:txBody>
      </p:sp>
    </p:spTree>
    <p:extLst>
      <p:ext uri="{BB962C8B-B14F-4D97-AF65-F5344CB8AC3E}">
        <p14:creationId xmlns:p14="http://schemas.microsoft.com/office/powerpoint/2010/main" val="265303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1001" y="1520890"/>
            <a:ext cx="9987072" cy="4170784"/>
          </a:xfrm>
        </p:spPr>
        <p:txBody>
          <a:bodyPr>
            <a:noAutofit/>
          </a:bodyPr>
          <a:lstStyle/>
          <a:p>
            <a:pPr lvl="0" algn="l" eaLnBrk="0" fontAlgn="base" hangingPunct="0">
              <a:lnSpc>
                <a:spcPct val="200000"/>
              </a:lnSpc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9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sum of the digits is divisible by 9.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10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number ends in 0.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11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difference between the sum of digits in odd positions and the sum of digits in even positions is divisible by 11.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12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number is divisible by both 3 and 4.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Divisibility by 15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number is divisible by both 3 and 5. 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3865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4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HCF (Highest Common Factor)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75384" y="2532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209040" y="1061403"/>
            <a:ext cx="9682480" cy="153955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LCM (Least Common Multiple)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49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19797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0240" y="2042160"/>
            <a:ext cx="3159760" cy="4460240"/>
          </a:xfrm>
        </p:spPr>
        <p:txBody>
          <a:bodyPr/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+ Even = Even            </a:t>
            </a:r>
            <a:b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2 + 4 = 6)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Odd = Odd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2 + 3 = 5)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+ Odd = Even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3 + 5 = 8)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94852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439920" y="2143760"/>
            <a:ext cx="343408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- Even = Even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6 - 4 = 2)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- Odd = Odd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6 - 3 = 3)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- Odd = Even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5 - 3 =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0240" y="2143760"/>
            <a:ext cx="3200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Even = Even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2 × 4 = 8)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×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Even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2 × 3 = 6)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× Odd = Odd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(Example: 3 × 5 = 15</a:t>
            </a:r>
            <a:r>
              <a:rPr lang="en-US" sz="2400" dirty="0" smtClean="0"/>
              <a:t>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029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21803"/>
            <a:ext cx="9144000" cy="1041717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remainder when 3456 is divided by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9?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0     b) 1    c) 3    d)  6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4720" y="2987040"/>
            <a:ext cx="6248400" cy="81788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200000"/>
              </a:lnSpc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Find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LCM of 12, 15 and 20.</a:t>
            </a:r>
          </a:p>
          <a:p>
            <a:pPr>
              <a:lnSpc>
                <a:spcPct val="20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30  b) 60  c) 120  d) 180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77920" y="4531360"/>
            <a:ext cx="638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following is a Prime Number ? 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51  b) 53  c) 57   d) 63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94852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06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3600" y="2123439"/>
            <a:ext cx="9144000" cy="129508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What is the value (3 + 4i)(3 – 4i) ?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 0  b) 9  c)  25  d) -25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200" y="3642678"/>
            <a:ext cx="9144000" cy="165576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If the HCF of two numbers is 8 and the product of the two numbers is 480, what is their LCM?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80  b) 60  c) 48   d) 50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94852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27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98763"/>
            <a:ext cx="9144000" cy="706437"/>
          </a:xfrm>
        </p:spPr>
        <p:txBody>
          <a:bodyPr>
            <a:normAutofit/>
          </a:bodyPr>
          <a:lstStyle/>
          <a:p>
            <a:r>
              <a:rPr lang="en-IN" sz="3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PERCENTAGES</a:t>
            </a:r>
            <a:endParaRPr lang="en-IN" sz="36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233144" y="3040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0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233144" y="3040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Diagonal Corners Snipped 5">
            <a:extLst>
              <a:ext uri="{FF2B5EF4-FFF2-40B4-BE49-F238E27FC236}">
                <a16:creationId xmlns:a16="http://schemas.microsoft.com/office/drawing/2014/main" id="{56988532-2807-AD2F-7FE9-95AE9CE56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6760" y="3216116"/>
            <a:ext cx="5618480" cy="1213803"/>
          </a:xfrm>
          <a:prstGeom prst="snip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x% of y = y% of x</a:t>
            </a:r>
            <a:endParaRPr lang="en-IN" sz="320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37760" y="1574800"/>
            <a:ext cx="2164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>
                <a:latin typeface="Times" panose="02020603050405020304" pitchFamily="18" charset="0"/>
                <a:cs typeface="Times" panose="02020603050405020304" pitchFamily="18" charset="0"/>
              </a:rPr>
              <a:t>Property</a:t>
            </a:r>
            <a:endParaRPr lang="en-IN" sz="4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47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 noChangeAspect="1"/>
          </p:cNvSpPr>
          <p:nvPr>
            <p:ph type="ctrTitle"/>
          </p:nvPr>
        </p:nvSpPr>
        <p:spPr>
          <a:xfrm>
            <a:off x="1296956" y="1652911"/>
            <a:ext cx="9644500" cy="3333220"/>
          </a:xfrm>
        </p:spPr>
        <p:txBody>
          <a:bodyPr wrap="none" anchor="ctr" anchorCtr="0">
            <a:spAutoFit/>
          </a:bodyPr>
          <a:lstStyle/>
          <a:p>
            <a:pPr marL="342900" indent="-342900"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:   Percentage = ( part / whole ) *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 : Part = ( Percentage / 100 ) * whole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whole : Whole = Part / (Percentage / 100)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Increase : Percentage Increase = (New value – Original value/ Original value) * 100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Decrease : Percentage Decrease = (Original Value – New Value/ Original Value ) * 100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Amount = Original Price * ( Discount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mmm,,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byb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Percentage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100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31972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39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8640" y="213421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50% of P = 25% of Q, then P = x% of Q, Find 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a) 20  b) 50 c) 0.5 d)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88640" y="382077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of (p + q) = 50% of ( p – q), then find p : q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a) 3 : 7  b) 5: 7  c) 7 : 3  d) 1 : 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31972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4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9280" y="2164080"/>
            <a:ext cx="9144000" cy="28194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3.If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item is priced at rupees 150 and there is a 10% discount , what is the discount amount ?</a:t>
            </a:r>
          </a:p>
          <a:p>
            <a:pPr algn="l"/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a) 20  b) 15 c) 25 d) 10</a:t>
            </a:r>
          </a:p>
          <a:p>
            <a:pPr algn="l"/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 employee's salary was increased from ₹30,000 to ₹36,000. What is the percentage increase in the employee's salary?</a:t>
            </a:r>
          </a:p>
          <a:p>
            <a:pPr algn="l"/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a) 30%  b) 10%  c) 20%  d) 5%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31972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3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ctrTitle"/>
          </p:nvPr>
        </p:nvSpPr>
        <p:spPr>
          <a:xfrm>
            <a:off x="3273252" y="2738298"/>
            <a:ext cx="6197615" cy="840230"/>
          </a:xfrm>
          <a:noFill/>
          <a:ln>
            <a:noFill/>
          </a:ln>
        </p:spPr>
        <p:txBody>
          <a:bodyPr wrap="none" lIns="90000" anchor="ctr" anchorCtr="0">
            <a:spAutoFit/>
          </a:bodyPr>
          <a:lstStyle/>
          <a:p>
            <a:r>
              <a:rPr lang="en-IN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AND LOSS</a:t>
            </a:r>
            <a:endParaRPr lang="en-IN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233144" y="3040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1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91731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ubtitle 2"/>
          <p:cNvSpPr>
            <a:spLocks noGrp="1" noChangeAspect="1"/>
          </p:cNvSpPr>
          <p:nvPr>
            <p:ph type="ctrTitle"/>
          </p:nvPr>
        </p:nvSpPr>
        <p:spPr>
          <a:xfrm>
            <a:off x="3415004" y="911292"/>
            <a:ext cx="5107488" cy="5133713"/>
          </a:xfrm>
        </p:spPr>
        <p:txBody>
          <a:bodyPr wrap="none" anchor="ctr" anchorCtr="0">
            <a:spAutoFit/>
          </a:bodyPr>
          <a:lstStyle/>
          <a:p>
            <a:pPr marL="342900" indent="-342900" algn="l"/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Cost </a:t>
            </a:r>
            <a:r>
              <a:rPr lang="en-US" sz="2800" dirty="0">
                <a:latin typeface="+mn-lt"/>
                <a:cs typeface="Times New Roman" panose="02020603050405020304" pitchFamily="18" charset="0"/>
              </a:rPr>
              <a:t>Price (CP) = Buying </a:t>
            </a: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Price Selling </a:t>
            </a:r>
            <a:r>
              <a:rPr lang="en-US" sz="2800" dirty="0">
                <a:latin typeface="+mn-lt"/>
                <a:cs typeface="Times New Roman" panose="02020603050405020304" pitchFamily="18" charset="0"/>
              </a:rPr>
              <a:t>Price (SP) = Selling </a:t>
            </a: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Price Profit </a:t>
            </a:r>
            <a:r>
              <a:rPr lang="en-US" sz="2800" dirty="0">
                <a:latin typeface="+mn-lt"/>
                <a:cs typeface="Times New Roman" panose="02020603050405020304" pitchFamily="18" charset="0"/>
              </a:rPr>
              <a:t>= SP − </a:t>
            </a: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CP</a:t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Loss </a:t>
            </a:r>
            <a:r>
              <a:rPr lang="en-US" sz="2800" dirty="0">
                <a:latin typeface="+mn-lt"/>
                <a:cs typeface="Times New Roman" panose="02020603050405020304" pitchFamily="18" charset="0"/>
              </a:rPr>
              <a:t>= CP − </a:t>
            </a: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SP</a:t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Profit </a:t>
            </a:r>
            <a:r>
              <a:rPr lang="en-US" sz="2800" dirty="0">
                <a:latin typeface="+mn-lt"/>
                <a:cs typeface="Times New Roman" panose="02020603050405020304" pitchFamily="18" charset="0"/>
              </a:rPr>
              <a:t>% = (Profit / CP) × </a:t>
            </a: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100</a:t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Loss </a:t>
            </a:r>
            <a:r>
              <a:rPr lang="en-US" sz="2800" dirty="0">
                <a:latin typeface="+mn-lt"/>
                <a:cs typeface="Times New Roman" panose="02020603050405020304" pitchFamily="18" charset="0"/>
              </a:rPr>
              <a:t>% = (Loss / CP) × </a:t>
            </a:r>
            <a:r>
              <a:rPr lang="en-US" sz="2800" dirty="0" smtClean="0">
                <a:latin typeface="+mn-lt"/>
                <a:cs typeface="Times New Roman" panose="02020603050405020304" pitchFamily="18" charset="0"/>
              </a:rPr>
              <a:t>100</a:t>
            </a:r>
            <a:br>
              <a:rPr lang="en-US" sz="2800" dirty="0" smtClean="0">
                <a:latin typeface="+mn-lt"/>
                <a:cs typeface="Times New Roman" panose="02020603050405020304" pitchFamily="18" charset="0"/>
              </a:rPr>
            </a:br>
            <a:endParaRPr lang="en-I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141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614196" y="1660849"/>
            <a:ext cx="899996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SP (when Profit % given) = CP × (100 + Profit %) / </a:t>
            </a:r>
            <a:r>
              <a:rPr lang="en-US" sz="3200" dirty="0" smtClean="0"/>
              <a:t>100</a:t>
            </a:r>
          </a:p>
          <a:p>
            <a:endParaRPr lang="en-US" sz="3200" dirty="0"/>
          </a:p>
          <a:p>
            <a:r>
              <a:rPr lang="en-US" sz="3200" dirty="0"/>
              <a:t>SP (when Loss % given) = CP × (100 − Loss %) / 100</a:t>
            </a:r>
          </a:p>
          <a:p>
            <a:endParaRPr lang="en-US" sz="3200" dirty="0" smtClean="0"/>
          </a:p>
          <a:p>
            <a:r>
              <a:rPr lang="en-US" sz="3200" dirty="0" smtClean="0"/>
              <a:t>CP </a:t>
            </a:r>
            <a:r>
              <a:rPr lang="en-US" sz="3200" dirty="0"/>
              <a:t>(when Profit % given) = SP × 100 / (100 + Profit %)</a:t>
            </a:r>
          </a:p>
          <a:p>
            <a:endParaRPr lang="en-US" sz="3200" dirty="0" smtClean="0"/>
          </a:p>
          <a:p>
            <a:r>
              <a:rPr lang="en-US" sz="3200" dirty="0" smtClean="0"/>
              <a:t>CP </a:t>
            </a:r>
            <a:r>
              <a:rPr lang="en-US" sz="3200" dirty="0"/>
              <a:t>(when Loss % given) = SP × 100 / (100 − Loss %)</a:t>
            </a:r>
          </a:p>
        </p:txBody>
      </p:sp>
    </p:spTree>
    <p:extLst>
      <p:ext uri="{BB962C8B-B14F-4D97-AF65-F5344CB8AC3E}">
        <p14:creationId xmlns:p14="http://schemas.microsoft.com/office/powerpoint/2010/main" val="116068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819469" y="1576873"/>
            <a:ext cx="842371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Marked Price (MP) = Printed </a:t>
            </a:r>
            <a:r>
              <a:rPr lang="en-US" sz="3200" dirty="0" smtClean="0"/>
              <a:t>Price</a:t>
            </a:r>
          </a:p>
          <a:p>
            <a:endParaRPr lang="en-US" sz="3200" dirty="0"/>
          </a:p>
          <a:p>
            <a:r>
              <a:rPr lang="en-US" sz="3200" dirty="0"/>
              <a:t>Discount = MP − SP</a:t>
            </a:r>
          </a:p>
          <a:p>
            <a:endParaRPr lang="en-US" sz="3200" dirty="0" smtClean="0"/>
          </a:p>
          <a:p>
            <a:r>
              <a:rPr lang="en-US" sz="3200" dirty="0" smtClean="0"/>
              <a:t>Discount </a:t>
            </a:r>
            <a:r>
              <a:rPr lang="en-US" sz="3200" dirty="0"/>
              <a:t>% = (Discount / MP) × 100</a:t>
            </a:r>
          </a:p>
          <a:p>
            <a:endParaRPr lang="en-US" sz="3200" dirty="0" smtClean="0"/>
          </a:p>
          <a:p>
            <a:r>
              <a:rPr lang="en-US" sz="3200" dirty="0" smtClean="0"/>
              <a:t>SP </a:t>
            </a:r>
            <a:r>
              <a:rPr lang="en-US" sz="3200" dirty="0"/>
              <a:t>after discount = MP × (100 − Discount %) / 100</a:t>
            </a:r>
          </a:p>
        </p:txBody>
      </p:sp>
    </p:spTree>
    <p:extLst>
      <p:ext uri="{BB962C8B-B14F-4D97-AF65-F5344CB8AC3E}">
        <p14:creationId xmlns:p14="http://schemas.microsoft.com/office/powerpoint/2010/main" val="60854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ctrTitle"/>
          </p:nvPr>
        </p:nvSpPr>
        <p:spPr>
          <a:xfrm>
            <a:off x="4671100" y="2738298"/>
            <a:ext cx="3401915" cy="840230"/>
          </a:xfrm>
          <a:noFill/>
          <a:ln>
            <a:noFill/>
          </a:ln>
        </p:spPr>
        <p:txBody>
          <a:bodyPr wrap="none" lIns="90000" anchor="ctr" anchorCtr="0">
            <a:spAutoFit/>
          </a:bodyPr>
          <a:lstStyle/>
          <a:p>
            <a:r>
              <a:rPr lang="en-IN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endParaRPr lang="en-IN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233144" y="304043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6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5CDCF-CFFA-3693-26D8-A45BA9302119}"/>
              </a:ext>
            </a:extLst>
          </p:cNvPr>
          <p:cNvSpPr txBox="1"/>
          <p:nvPr/>
        </p:nvSpPr>
        <p:spPr>
          <a:xfrm>
            <a:off x="2710543" y="631370"/>
            <a:ext cx="6618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SUM OF OBSERVATIONS </a:t>
            </a:r>
          </a:p>
          <a:p>
            <a:r>
              <a:rPr lang="en-US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AVERAGE =   ____________________________</a:t>
            </a:r>
          </a:p>
          <a:p>
            <a:endParaRPr lang="en-US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TOTAL NUMBER OF OBSERVATIONS</a:t>
            </a:r>
            <a:endParaRPr lang="en-IN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C21EB-E2AD-CDB1-2077-45A381B567EF}"/>
              </a:ext>
            </a:extLst>
          </p:cNvPr>
          <p:cNvSpPr txBox="1"/>
          <p:nvPr/>
        </p:nvSpPr>
        <p:spPr>
          <a:xfrm>
            <a:off x="3548743" y="2275114"/>
            <a:ext cx="452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   10   60   46   20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E62FC6-1CA7-B966-7F20-7A692A4A34AF}"/>
              </a:ext>
            </a:extLst>
          </p:cNvPr>
          <p:cNvSpPr txBox="1"/>
          <p:nvPr/>
        </p:nvSpPr>
        <p:spPr>
          <a:xfrm>
            <a:off x="2253343" y="3063896"/>
            <a:ext cx="6368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No :   x , x + 1,  x + 2, x + 3, x + 4…..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8C95F-606C-9F1A-CB66-AED84AC31282}"/>
              </a:ext>
            </a:extLst>
          </p:cNvPr>
          <p:cNvSpPr txBox="1"/>
          <p:nvPr/>
        </p:nvSpPr>
        <p:spPr>
          <a:xfrm>
            <a:off x="8577942" y="3043927"/>
            <a:ext cx="272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 :  10 , 11, 12, 13 , 14</a:t>
            </a:r>
          </a:p>
          <a:p>
            <a:r>
              <a:rPr lang="en-US" dirty="0"/>
              <a:t>Ex:   101 102 103 104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3CC2F-682C-15A6-D227-133E4A59EEA2}"/>
              </a:ext>
            </a:extLst>
          </p:cNvPr>
          <p:cNvSpPr txBox="1"/>
          <p:nvPr/>
        </p:nvSpPr>
        <p:spPr>
          <a:xfrm>
            <a:off x="2253343" y="4201729"/>
            <a:ext cx="5976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Odd No :   x  + x + 2, x + 4, x + 6, x + 8…..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703BB-0807-14E7-3591-4FF9D507A599}"/>
              </a:ext>
            </a:extLst>
          </p:cNvPr>
          <p:cNvSpPr txBox="1"/>
          <p:nvPr/>
        </p:nvSpPr>
        <p:spPr>
          <a:xfrm>
            <a:off x="2253343" y="5379423"/>
            <a:ext cx="545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Even No :   x , x + 2, x + 4,  x + 8…..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92250-E637-4AE9-1B96-DA5ACDF9F250}"/>
              </a:ext>
            </a:extLst>
          </p:cNvPr>
          <p:cNvSpPr txBox="1"/>
          <p:nvPr/>
        </p:nvSpPr>
        <p:spPr>
          <a:xfrm>
            <a:off x="8577942" y="421711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 : 11 , 13, 15,  17, 19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0ECB51-6A43-3F14-6DEA-2AAECD187029}"/>
              </a:ext>
            </a:extLst>
          </p:cNvPr>
          <p:cNvSpPr txBox="1"/>
          <p:nvPr/>
        </p:nvSpPr>
        <p:spPr>
          <a:xfrm>
            <a:off x="8577942" y="5236420"/>
            <a:ext cx="23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 :  10, 12, 14, 16 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67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C496A-1A2F-8016-DB6C-F2D184D71F92}"/>
              </a:ext>
            </a:extLst>
          </p:cNvPr>
          <p:cNvSpPr txBox="1"/>
          <p:nvPr/>
        </p:nvSpPr>
        <p:spPr>
          <a:xfrm>
            <a:off x="1872343" y="2166257"/>
            <a:ext cx="74567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obtained by a student in 5 subjects are 80, 90, 85, 70 and 95. What is the average mark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The average age of A, B and C is 26 years, if the average age of A            and  C is 29 years, what is the age of B in years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47440-4FB7-E60E-4C73-AB59F33860BC}"/>
              </a:ext>
            </a:extLst>
          </p:cNvPr>
          <p:cNvSpPr txBox="1"/>
          <p:nvPr/>
        </p:nvSpPr>
        <p:spPr>
          <a:xfrm>
            <a:off x="3864428" y="775118"/>
            <a:ext cx="3929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Average Questions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41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CC1C0-E6C7-EE0E-8089-61AB84E50A7C}"/>
              </a:ext>
            </a:extLst>
          </p:cNvPr>
          <p:cNvSpPr txBox="1"/>
          <p:nvPr/>
        </p:nvSpPr>
        <p:spPr>
          <a:xfrm>
            <a:off x="3418114" y="1077686"/>
            <a:ext cx="5083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Finding a Missing Number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8DDAE-5FCA-B567-BDAE-9EA8686024B4}"/>
              </a:ext>
            </a:extLst>
          </p:cNvPr>
          <p:cNvSpPr txBox="1"/>
          <p:nvPr/>
        </p:nvSpPr>
        <p:spPr>
          <a:xfrm>
            <a:off x="2427514" y="2351314"/>
            <a:ext cx="813162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of 4 numbers is 20. If one of the numbers is 25, Find the average of the remaining 3 numbers.</a:t>
            </a:r>
          </a:p>
          <a:p>
            <a:pPr marL="342900" indent="-342900">
              <a:lnSpc>
                <a:spcPct val="150000"/>
              </a:lnSpc>
              <a:buAutoNum type="arabicPeriod" startAt="3"/>
            </a:pPr>
            <a:endParaRPr lang="en-US" dirty="0"/>
          </a:p>
          <a:p>
            <a:pPr marL="342900" indent="-342900">
              <a:buAutoNum type="arabi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62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D6960-B9E3-721C-54FF-5154B81EF89E}"/>
              </a:ext>
            </a:extLst>
          </p:cNvPr>
          <p:cNvSpPr txBox="1"/>
          <p:nvPr/>
        </p:nvSpPr>
        <p:spPr>
          <a:xfrm>
            <a:off x="1752600" y="1578429"/>
            <a:ext cx="8523514" cy="1975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Average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The average score of 30 students is 60, and  the average score of another 20 students is 70 . Find the overall average score of all 50 students.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4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E061E-A87E-E5AC-17CA-5B1ADE0BAF07}"/>
              </a:ext>
            </a:extLst>
          </p:cNvPr>
          <p:cNvSpPr txBox="1"/>
          <p:nvPr/>
        </p:nvSpPr>
        <p:spPr>
          <a:xfrm>
            <a:off x="1730829" y="1447800"/>
            <a:ext cx="72390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Average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5.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of 10 students has an average height of 150 cm, and another group of 5 students has an average height of 160 cm. What is the combined average height of all 15 students?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28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8C0E9-81C1-883B-CED1-90FA0DF7C865}"/>
              </a:ext>
            </a:extLst>
          </p:cNvPr>
          <p:cNvSpPr txBox="1"/>
          <p:nvPr/>
        </p:nvSpPr>
        <p:spPr>
          <a:xfrm>
            <a:off x="2024743" y="1342665"/>
            <a:ext cx="7151914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Speed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man goes to a certain place at a  speed of 30km\hr and returns to original place at a speed of 20km\hr, Find out the average speed during the entire journey.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678E6-F4DF-DA93-4CAA-6240A67763D3}"/>
              </a:ext>
            </a:extLst>
          </p:cNvPr>
          <p:cNvSpPr txBox="1"/>
          <p:nvPr/>
        </p:nvSpPr>
        <p:spPr>
          <a:xfrm>
            <a:off x="4343400" y="4702627"/>
            <a:ext cx="7151913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If the certain distance is covered at the speed of x km/hr and the same distance is covered at y km/hr, then the average speed during entire journey = (2xy/ x + y) km/hr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26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845837" y="2705877"/>
            <a:ext cx="69661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AND PROPORTION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55954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9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2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82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9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3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65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76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4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63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7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2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7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61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576405-B023-2A08-9F3C-159B88DBFFFB}"/>
              </a:ext>
            </a:extLst>
          </p:cNvPr>
          <p:cNvSpPr/>
          <p:nvPr/>
        </p:nvSpPr>
        <p:spPr>
          <a:xfrm>
            <a:off x="324584" y="258975"/>
            <a:ext cx="9116425" cy="90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4703</TotalTime>
  <Words>1399</Words>
  <Application>Microsoft Office PowerPoint</Application>
  <PresentationFormat>Widescreen</PresentationFormat>
  <Paragraphs>130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Century Gothic</vt:lpstr>
      <vt:lpstr>Latha</vt:lpstr>
      <vt:lpstr>Times</vt:lpstr>
      <vt:lpstr>Times New Roman</vt:lpstr>
      <vt:lpstr>Zilla Slab</vt:lpstr>
      <vt:lpstr>Office Theme 2013 - 2022</vt:lpstr>
      <vt:lpstr>TRAINING PROGRAM </vt:lpstr>
      <vt:lpstr>PowerPoint Presentation</vt:lpstr>
      <vt:lpstr>What is aptitude ?</vt:lpstr>
      <vt:lpstr> </vt:lpstr>
      <vt:lpstr>What are Numbers?</vt:lpstr>
      <vt:lpstr>PowerPoint Presentation</vt:lpstr>
      <vt:lpstr>PowerPoint Presentation</vt:lpstr>
      <vt:lpstr>Divisibility by 9: If the sum of the digits is divisible by 9. Divisibility by 10: If the number ends in 0. Divisibility by 11: If the difference between the sum of digits in odd positions and the sum of digits in even positions is divisible by 11. Divisibility by 12: If the number is divisible by both 3 and 4. Divisibility by 15: If the number is divisible by both 3 and 5. </vt:lpstr>
      <vt:lpstr>LCM (Least Common Multiple)</vt:lpstr>
      <vt:lpstr>Properties</vt:lpstr>
      <vt:lpstr>1. What is the remainder when 3456 is divided by 9?  a) 0     b) 1    c) 3    d)  6 </vt:lpstr>
      <vt:lpstr>4. What is the value (3 + 4i)(3 – 4i) ?  a)  0  b) 9  c)  25  d) -25 </vt:lpstr>
      <vt:lpstr>PERCENTAGES</vt:lpstr>
      <vt:lpstr>x% of y = y% of x</vt:lpstr>
      <vt:lpstr> Percentage Formula :   Percentage = ( part / whole ) * 100  Finding the Part : Part = ( Percentage / 100 ) * whole  Finding the whole : Whole = Part / (Percentage / 100)  Percentage Increase : Percentage Increase = (New value – Original value/ Original value) * 100  Percentage Decrease : Percentage Decrease = (Original Value – New Value/ Original Value ) * 100  Discount Amount = Original Price * ( Discount  mmm,,byb  Percentage / 100) </vt:lpstr>
      <vt:lpstr>PowerPoint Presentation</vt:lpstr>
      <vt:lpstr>PowerPoint Presentation</vt:lpstr>
      <vt:lpstr>PROFIT AND LOSS</vt:lpstr>
      <vt:lpstr> Cost Price (CP) = Buying   Price Selling Price (SP) = Selling   Price Profit = SP − CP  Loss = CP − SP  Profit % = (Profit / CP) × 100  Loss % = (Loss / CP) × 100 </vt:lpstr>
      <vt:lpstr>PowerPoint Presentation</vt:lpstr>
      <vt:lpstr>PowerPoint Presentation</vt:lpstr>
      <vt:lpstr>AVERAGE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 manoj</dc:creator>
  <cp:lastModifiedBy>ritu sha</cp:lastModifiedBy>
  <cp:revision>126</cp:revision>
  <dcterms:created xsi:type="dcterms:W3CDTF">2022-12-27T13:52:06Z</dcterms:created>
  <dcterms:modified xsi:type="dcterms:W3CDTF">2026-02-15T16:15:07Z</dcterms:modified>
</cp:coreProperties>
</file>